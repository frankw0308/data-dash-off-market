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problem, allowed features, log-price model, and separation of tuning from final validation. max_iter=350; learning_rate=0.07; max_leaf_nodes=31; l2_regularization=10.0; remarks features=on; log-price target; random seed 42.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Histogram gradient boosting achieved 9.08% MdAPE and 11.60% MAPE over 10,069 held-out sales. This is 49.2% lower MdAPE than the rolling community/type baseline (17.89%). The $2m+ group had 14.68% MdAPE across 719 homes, with -9.57% median signed error. The data is synthetic; results do not establish real-world appraisal accuracy. Six months do not capture every future market regime. Expensive or unusual homes may have larger errors. The June–September 2026 test prices are hidden, so test accuracy is unknown. Do not describe the validation score as a hidden-test score.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CFD"/>
        </a:solidFill>
        <a:effectLst/>
      </p:bgPr>
    </p:bg>
    <p:spTree>
      <p:nvGrpSpPr>
        <p:cNvPr id="1" name=""/>
        <p:cNvGrpSpPr/>
        <p:nvPr/>
      </p:nvGrpSpPr>
      <p:grpSpPr/>
      <p:sp>
        <p:nvSpPr>
          <p:cNvPr id="2" name="TextBox 1"/>
          <p:cNvSpPr txBox="1"/>
          <p:nvPr/>
        </p:nvSpPr>
        <p:spPr>
          <a:xfrm>
            <a:off x="502920" y="201168"/>
            <a:ext cx="10972800" cy="320040"/>
          </a:xfrm>
          <a:prstGeom prst="rect">
            <a:avLst/>
          </a:prstGeom>
          <a:noFill/>
        </p:spPr>
        <p:txBody>
          <a:bodyPr wrap="square">
            <a:spAutoFit/>
          </a:bodyPr>
          <a:lstStyle/>
          <a:p>
            <a:pPr>
              <a:spcAft>
                <a:spcPts val="1200"/>
              </a:spcAft>
              <a:defRPr sz="1200" b="1">
                <a:solidFill>
                  <a:srgbClr val="14867D"/>
                </a:solidFill>
                <a:latin typeface="Aptos"/>
              </a:defRPr>
            </a:pPr>
            <a:r>
              <a:t>PART B  /  OFF-MARKET</a:t>
            </a:r>
          </a:p>
        </p:txBody>
      </p:sp>
      <p:sp>
        <p:nvSpPr>
          <p:cNvPr id="3" name="TextBox 2"/>
          <p:cNvSpPr txBox="1"/>
          <p:nvPr/>
        </p:nvSpPr>
        <p:spPr>
          <a:xfrm>
            <a:off x="502920" y="685800"/>
            <a:ext cx="11155680" cy="594360"/>
          </a:xfrm>
          <a:prstGeom prst="rect">
            <a:avLst/>
          </a:prstGeom>
          <a:noFill/>
        </p:spPr>
        <p:txBody>
          <a:bodyPr wrap="square">
            <a:spAutoFit/>
          </a:bodyPr>
          <a:lstStyle/>
          <a:p>
            <a:pPr>
              <a:spcAft>
                <a:spcPts val="1200"/>
              </a:spcAft>
              <a:defRPr sz="3000" b="1">
                <a:solidFill>
                  <a:srgbClr val="142D45"/>
                </a:solidFill>
                <a:latin typeface="Aptos"/>
              </a:defRPr>
            </a:pPr>
            <a:r>
              <a:t>Estimate sale price before the list price is known</a:t>
            </a:r>
          </a:p>
        </p:txBody>
      </p:sp>
      <p:sp>
        <p:nvSpPr>
          <p:cNvPr id="4" name="TextBox 3"/>
          <p:cNvSpPr txBox="1"/>
          <p:nvPr/>
        </p:nvSpPr>
        <p:spPr>
          <a:xfrm>
            <a:off x="530352" y="1344168"/>
            <a:ext cx="10972800" cy="502920"/>
          </a:xfrm>
          <a:prstGeom prst="rect">
            <a:avLst/>
          </a:prstGeom>
          <a:noFill/>
        </p:spPr>
        <p:txBody>
          <a:bodyPr wrap="square">
            <a:spAutoFit/>
          </a:bodyPr>
          <a:lstStyle/>
          <a:p>
            <a:pPr>
              <a:spcAft>
                <a:spcPts val="1200"/>
              </a:spcAft>
              <a:defRPr sz="1500" b="0">
                <a:solidFill>
                  <a:srgbClr val="536373"/>
                </a:solidFill>
                <a:latin typeface="Aptos"/>
              </a:defRPr>
            </a:pPr>
            <a:r>
              <a:t>A reproducible model, selected before the final six-month backtest</a:t>
            </a:r>
          </a:p>
        </p:txBody>
      </p:sp>
      <p:sp>
        <p:nvSpPr>
          <p:cNvPr id="5" name="TextBox 4"/>
          <p:cNvSpPr txBox="1"/>
          <p:nvPr/>
        </p:nvSpPr>
        <p:spPr>
          <a:xfrm>
            <a:off x="530352" y="6492240"/>
            <a:ext cx="10972800" cy="228600"/>
          </a:xfrm>
          <a:prstGeom prst="rect">
            <a:avLst/>
          </a:prstGeom>
          <a:noFill/>
        </p:spPr>
        <p:txBody>
          <a:bodyPr wrap="square">
            <a:spAutoFit/>
          </a:bodyPr>
          <a:lstStyle/>
          <a:p>
            <a:pPr>
              <a:spcAft>
                <a:spcPts val="1200"/>
              </a:spcAft>
              <a:defRPr sz="1000" b="0">
                <a:solidFill>
                  <a:srgbClr val="536373"/>
                </a:solidFill>
                <a:latin typeface="Aptos"/>
              </a:defRPr>
            </a:pPr>
            <a:r>
              <a:t>SSU Data Dash 2026 | Synthetic data | Hidden-test prices unavailable</a:t>
            </a:r>
          </a:p>
        </p:txBody>
      </p:sp>
      <p:sp>
        <p:nvSpPr>
          <p:cNvPr id="6" name="TextBox 5"/>
          <p:cNvSpPr txBox="1"/>
          <p:nvPr/>
        </p:nvSpPr>
        <p:spPr>
          <a:xfrm>
            <a:off x="594360" y="1965960"/>
            <a:ext cx="3291840" cy="411480"/>
          </a:xfrm>
          <a:prstGeom prst="rect">
            <a:avLst/>
          </a:prstGeom>
          <a:noFill/>
        </p:spPr>
        <p:txBody>
          <a:bodyPr wrap="square">
            <a:spAutoFit/>
          </a:bodyPr>
          <a:lstStyle/>
          <a:p>
            <a:pPr>
              <a:spcAft>
                <a:spcPts val="1200"/>
              </a:spcAft>
              <a:defRPr sz="1600" b="1">
                <a:solidFill>
                  <a:srgbClr val="14867D"/>
                </a:solidFill>
                <a:latin typeface="Aptos"/>
              </a:defRPr>
            </a:pPr>
            <a:r>
              <a:t>01  FEATURES</a:t>
            </a:r>
          </a:p>
        </p:txBody>
      </p:sp>
      <p:sp>
        <p:nvSpPr>
          <p:cNvPr id="7" name="TextBox 6"/>
          <p:cNvSpPr txBox="1"/>
          <p:nvPr/>
        </p:nvSpPr>
        <p:spPr>
          <a:xfrm>
            <a:off x="594360" y="2514600"/>
            <a:ext cx="3383280" cy="2743200"/>
          </a:xfrm>
          <a:prstGeom prst="rect">
            <a:avLst/>
          </a:prstGeom>
          <a:noFill/>
        </p:spPr>
        <p:txBody>
          <a:bodyPr wrap="square">
            <a:spAutoFit/>
          </a:bodyPr>
          <a:lstStyle/>
          <a:p>
            <a:pPr>
              <a:spcAft>
                <a:spcPts val="1200"/>
              </a:spcAft>
              <a:defRPr sz="1800" b="0">
                <a:solidFill>
                  <a:srgbClr val="142D45"/>
                </a:solidFill>
                <a:latin typeface="Aptos"/>
              </a:defRPr>
            </a:pPr>
            <a:r>
              <a:t>Size and room counts</a:t>
            </a:r>
          </a:p>
          <a:p>
            <a:pPr>
              <a:spcAft>
                <a:spcPts val="1200"/>
              </a:spcAft>
              <a:defRPr sz="1800" b="0">
                <a:solidFill>
                  <a:srgbClr val="142D45"/>
                </a:solidFill>
                <a:latin typeface="Aptos"/>
              </a:defRPr>
            </a:pPr>
            <a:r>
              <a:t>Type, style and synthetic location</a:t>
            </a:r>
          </a:p>
          <a:p>
            <a:pPr>
              <a:spcAft>
                <a:spcPts val="1200"/>
              </a:spcAft>
              <a:defRPr sz="1800" b="0">
                <a:solidFill>
                  <a:srgbClr val="142D45"/>
                </a:solidFill>
                <a:latin typeface="Aptos"/>
              </a:defRPr>
            </a:pPr>
            <a:r>
              <a:t>Lot size and missingness</a:t>
            </a:r>
          </a:p>
          <a:p>
            <a:pPr>
              <a:spcAft>
                <a:spcPts val="1200"/>
              </a:spcAft>
              <a:defRPr sz="1800" b="0">
                <a:solidFill>
                  <a:srgbClr val="142D45"/>
                </a:solidFill>
                <a:latin typeface="Aptos"/>
              </a:defRPr>
            </a:pPr>
            <a:r>
              <a:t>Listing-date calendar features</a:t>
            </a:r>
          </a:p>
          <a:p>
            <a:pPr>
              <a:spcAft>
                <a:spcPts val="1200"/>
              </a:spcAft>
              <a:defRPr sz="1800" b="0">
                <a:solidFill>
                  <a:srgbClr val="142D45"/>
                </a:solidFill>
                <a:latin typeface="Aptos"/>
              </a:defRPr>
            </a:pPr>
            <a:r>
              <a:t>Fixed remarks / condition flags</a:t>
            </a:r>
          </a:p>
        </p:txBody>
      </p:sp>
      <p:sp>
        <p:nvSpPr>
          <p:cNvPr id="8" name="TextBox 7"/>
          <p:cNvSpPr txBox="1"/>
          <p:nvPr/>
        </p:nvSpPr>
        <p:spPr>
          <a:xfrm>
            <a:off x="4434840" y="1965960"/>
            <a:ext cx="3246120" cy="411480"/>
          </a:xfrm>
          <a:prstGeom prst="rect">
            <a:avLst/>
          </a:prstGeom>
          <a:noFill/>
        </p:spPr>
        <p:txBody>
          <a:bodyPr wrap="square">
            <a:spAutoFit/>
          </a:bodyPr>
          <a:lstStyle/>
          <a:p>
            <a:pPr>
              <a:spcAft>
                <a:spcPts val="1200"/>
              </a:spcAft>
              <a:defRPr sz="1600" b="1">
                <a:solidFill>
                  <a:srgbClr val="14867D"/>
                </a:solidFill>
                <a:latin typeface="Aptos"/>
              </a:defRPr>
            </a:pPr>
            <a:r>
              <a:t>02  MODEL</a:t>
            </a:r>
          </a:p>
        </p:txBody>
      </p:sp>
      <p:sp>
        <p:nvSpPr>
          <p:cNvPr id="9" name="TextBox 8"/>
          <p:cNvSpPr txBox="1"/>
          <p:nvPr/>
        </p:nvSpPr>
        <p:spPr>
          <a:xfrm>
            <a:off x="4434840" y="2514600"/>
            <a:ext cx="3291840" cy="2743200"/>
          </a:xfrm>
          <a:prstGeom prst="rect">
            <a:avLst/>
          </a:prstGeom>
          <a:noFill/>
        </p:spPr>
        <p:txBody>
          <a:bodyPr wrap="square">
            <a:spAutoFit/>
          </a:bodyPr>
          <a:lstStyle/>
          <a:p>
            <a:pPr>
              <a:spcAft>
                <a:spcPts val="1200"/>
              </a:spcAft>
              <a:defRPr sz="1800" b="0">
                <a:solidFill>
                  <a:srgbClr val="142D45"/>
                </a:solidFill>
                <a:latin typeface="Aptos"/>
              </a:defRPr>
            </a:pPr>
            <a:r>
              <a:t>Histogram gradient boosting</a:t>
            </a:r>
          </a:p>
          <a:p>
            <a:pPr>
              <a:spcAft>
                <a:spcPts val="1200"/>
              </a:spcAft>
              <a:defRPr sz="1800" b="0">
                <a:solidFill>
                  <a:srgbClr val="142D45"/>
                </a:solidFill>
                <a:latin typeface="Aptos"/>
              </a:defRPr>
            </a:pPr>
            <a:r>
              <a:t>Learn log(price) → exponentiate</a:t>
            </a:r>
          </a:p>
          <a:p>
            <a:pPr>
              <a:spcAft>
                <a:spcPts val="1200"/>
              </a:spcAft>
              <a:defRPr sz="1800" b="0">
                <a:solidFill>
                  <a:srgbClr val="142D45"/>
                </a:solidFill>
                <a:latin typeface="Aptos"/>
              </a:defRPr>
            </a:pPr>
            <a:r>
              <a:t>Compare RF, gradient boosting and CatBoost</a:t>
            </a:r>
          </a:p>
          <a:p>
            <a:pPr>
              <a:spcAft>
                <a:spcPts val="1200"/>
              </a:spcAft>
              <a:defRPr sz="1800" b="0">
                <a:solidFill>
                  <a:srgbClr val="142D45"/>
                </a:solidFill>
                <a:latin typeface="Aptos"/>
              </a:defRPr>
            </a:pPr>
            <a:r>
              <a:t>Tune Oct–Nov 2025 only</a:t>
            </a:r>
          </a:p>
        </p:txBody>
      </p:sp>
      <p:sp>
        <p:nvSpPr>
          <p:cNvPr id="10" name="TextBox 9"/>
          <p:cNvSpPr txBox="1"/>
          <p:nvPr/>
        </p:nvSpPr>
        <p:spPr>
          <a:xfrm>
            <a:off x="8229600" y="1965960"/>
            <a:ext cx="3383280" cy="411480"/>
          </a:xfrm>
          <a:prstGeom prst="rect">
            <a:avLst/>
          </a:prstGeom>
          <a:noFill/>
        </p:spPr>
        <p:txBody>
          <a:bodyPr wrap="square">
            <a:spAutoFit/>
          </a:bodyPr>
          <a:lstStyle/>
          <a:p>
            <a:pPr>
              <a:spcAft>
                <a:spcPts val="1200"/>
              </a:spcAft>
              <a:defRPr sz="1600" b="1">
                <a:solidFill>
                  <a:srgbClr val="14867D"/>
                </a:solidFill>
                <a:latin typeface="Aptos"/>
              </a:defRPr>
            </a:pPr>
            <a:r>
              <a:t>03  HONEST CHECK</a:t>
            </a:r>
          </a:p>
        </p:txBody>
      </p:sp>
      <p:sp>
        <p:nvSpPr>
          <p:cNvPr id="11" name="TextBox 10"/>
          <p:cNvSpPr txBox="1"/>
          <p:nvPr/>
        </p:nvSpPr>
        <p:spPr>
          <a:xfrm>
            <a:off x="8229600" y="2514600"/>
            <a:ext cx="3383280" cy="2743200"/>
          </a:xfrm>
          <a:prstGeom prst="rect">
            <a:avLst/>
          </a:prstGeom>
          <a:noFill/>
        </p:spPr>
        <p:txBody>
          <a:bodyPr wrap="square">
            <a:spAutoFit/>
          </a:bodyPr>
          <a:lstStyle/>
          <a:p>
            <a:pPr>
              <a:spcAft>
                <a:spcPts val="1200"/>
              </a:spcAft>
              <a:defRPr sz="1800" b="0">
                <a:solidFill>
                  <a:srgbClr val="142D45"/>
                </a:solidFill>
                <a:latin typeface="Aptos"/>
              </a:defRPr>
            </a:pPr>
            <a:r>
              <a:t>Freeze before Dec–May</a:t>
            </a:r>
          </a:p>
          <a:p>
            <a:pPr>
              <a:spcAft>
                <a:spcPts val="1200"/>
              </a:spcAft>
              <a:defRPr sz="1800" b="0">
                <a:solidFill>
                  <a:srgbClr val="142D45"/>
                </a:solidFill>
                <a:latin typeface="Aptos"/>
              </a:defRPr>
            </a:pPr>
            <a:r>
              <a:t>Refit using earlier sales each month</a:t>
            </a:r>
          </a:p>
          <a:p>
            <a:pPr>
              <a:spcAft>
                <a:spcPts val="1200"/>
              </a:spcAft>
              <a:defRPr sz="1800" b="0">
                <a:solidFill>
                  <a:srgbClr val="142D45"/>
                </a:solidFill>
                <a:latin typeface="Aptos"/>
              </a:defRPr>
            </a:pPr>
            <a:r>
              <a:t>No list price / post-sale / AVM inputs</a:t>
            </a:r>
          </a:p>
          <a:p>
            <a:pPr>
              <a:spcAft>
                <a:spcPts val="1200"/>
              </a:spcAft>
              <a:defRPr sz="1800" b="0">
                <a:solidFill>
                  <a:srgbClr val="142D45"/>
                </a:solidFill>
                <a:latin typeface="Aptos"/>
              </a:defRPr>
            </a:pPr>
            <a:r>
              <a:t>Sale-month protocol; not per-home listing-time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CFD"/>
        </a:solidFill>
        <a:effectLst/>
      </p:bgPr>
    </p:bg>
    <p:spTree>
      <p:nvGrpSpPr>
        <p:cNvPr id="1" name=""/>
        <p:cNvGrpSpPr/>
        <p:nvPr/>
      </p:nvGrpSpPr>
      <p:grpSpPr/>
      <p:sp>
        <p:nvSpPr>
          <p:cNvPr id="2" name="TextBox 1"/>
          <p:cNvSpPr txBox="1"/>
          <p:nvPr/>
        </p:nvSpPr>
        <p:spPr>
          <a:xfrm>
            <a:off x="502920" y="201168"/>
            <a:ext cx="10972800" cy="320040"/>
          </a:xfrm>
          <a:prstGeom prst="rect">
            <a:avLst/>
          </a:prstGeom>
          <a:noFill/>
        </p:spPr>
        <p:txBody>
          <a:bodyPr wrap="square">
            <a:spAutoFit/>
          </a:bodyPr>
          <a:lstStyle/>
          <a:p>
            <a:pPr>
              <a:spcAft>
                <a:spcPts val="1200"/>
              </a:spcAft>
              <a:defRPr sz="1200" b="1">
                <a:solidFill>
                  <a:srgbClr val="14867D"/>
                </a:solidFill>
                <a:latin typeface="Aptos"/>
              </a:defRPr>
            </a:pPr>
            <a:r>
              <a:t>PART B  /  OFF-MARKET</a:t>
            </a:r>
          </a:p>
        </p:txBody>
      </p:sp>
      <p:sp>
        <p:nvSpPr>
          <p:cNvPr id="3" name="TextBox 2"/>
          <p:cNvSpPr txBox="1"/>
          <p:nvPr/>
        </p:nvSpPr>
        <p:spPr>
          <a:xfrm>
            <a:off x="502920" y="685800"/>
            <a:ext cx="11155680" cy="594360"/>
          </a:xfrm>
          <a:prstGeom prst="rect">
            <a:avLst/>
          </a:prstGeom>
          <a:noFill/>
        </p:spPr>
        <p:txBody>
          <a:bodyPr wrap="square">
            <a:spAutoFit/>
          </a:bodyPr>
          <a:lstStyle/>
          <a:p>
            <a:pPr>
              <a:spcAft>
                <a:spcPts val="1200"/>
              </a:spcAft>
              <a:defRPr sz="3000" b="1">
                <a:solidFill>
                  <a:srgbClr val="142D45"/>
                </a:solidFill>
                <a:latin typeface="Aptos"/>
              </a:defRPr>
            </a:pPr>
            <a:r>
              <a:t>Measured error on future held-out months</a:t>
            </a:r>
          </a:p>
        </p:txBody>
      </p:sp>
      <p:sp>
        <p:nvSpPr>
          <p:cNvPr id="4" name="TextBox 3"/>
          <p:cNvSpPr txBox="1"/>
          <p:nvPr/>
        </p:nvSpPr>
        <p:spPr>
          <a:xfrm>
            <a:off x="530352" y="1344168"/>
            <a:ext cx="10972800" cy="502920"/>
          </a:xfrm>
          <a:prstGeom prst="rect">
            <a:avLst/>
          </a:prstGeom>
          <a:noFill/>
        </p:spPr>
        <p:txBody>
          <a:bodyPr wrap="square">
            <a:spAutoFit/>
          </a:bodyPr>
          <a:lstStyle/>
          <a:p>
            <a:pPr>
              <a:spcAft>
                <a:spcPts val="1200"/>
              </a:spcAft>
              <a:defRPr sz="1500" b="0">
                <a:solidFill>
                  <a:srgbClr val="536373"/>
                </a:solidFill>
                <a:latin typeface="Aptos"/>
              </a:defRPr>
            </a:pPr>
            <a:r>
              <a:t>December 2025–May 2026 | 10,069 held-out homes | selected configuration unchanged</a:t>
            </a:r>
          </a:p>
        </p:txBody>
      </p:sp>
      <p:sp>
        <p:nvSpPr>
          <p:cNvPr id="5" name="TextBox 4"/>
          <p:cNvSpPr txBox="1"/>
          <p:nvPr/>
        </p:nvSpPr>
        <p:spPr>
          <a:xfrm>
            <a:off x="530352" y="6492240"/>
            <a:ext cx="10972800" cy="228600"/>
          </a:xfrm>
          <a:prstGeom prst="rect">
            <a:avLst/>
          </a:prstGeom>
          <a:noFill/>
        </p:spPr>
        <p:txBody>
          <a:bodyPr wrap="square">
            <a:spAutoFit/>
          </a:bodyPr>
          <a:lstStyle/>
          <a:p>
            <a:pPr>
              <a:spcAft>
                <a:spcPts val="1200"/>
              </a:spcAft>
              <a:defRPr sz="1000" b="0">
                <a:solidFill>
                  <a:srgbClr val="536373"/>
                </a:solidFill>
                <a:latin typeface="Aptos"/>
              </a:defRPr>
            </a:pPr>
            <a:r>
              <a:t>SSU Data Dash 2026 | Synthetic data | Hidden-test prices unavailable</a:t>
            </a:r>
          </a:p>
        </p:txBody>
      </p:sp>
      <p:sp>
        <p:nvSpPr>
          <p:cNvPr id="6" name="TextBox 5"/>
          <p:cNvSpPr txBox="1"/>
          <p:nvPr/>
        </p:nvSpPr>
        <p:spPr>
          <a:xfrm>
            <a:off x="640080" y="2011680"/>
            <a:ext cx="2834640" cy="822960"/>
          </a:xfrm>
          <a:prstGeom prst="rect">
            <a:avLst/>
          </a:prstGeom>
          <a:noFill/>
        </p:spPr>
        <p:txBody>
          <a:bodyPr wrap="square">
            <a:spAutoFit/>
          </a:bodyPr>
          <a:lstStyle/>
          <a:p>
            <a:pPr>
              <a:spcAft>
                <a:spcPts val="1200"/>
              </a:spcAft>
              <a:defRPr sz="4200" b="1">
                <a:solidFill>
                  <a:srgbClr val="14867D"/>
                </a:solidFill>
                <a:latin typeface="Aptos"/>
              </a:defRPr>
            </a:pPr>
            <a:r>
              <a:t>9.08%</a:t>
            </a:r>
          </a:p>
        </p:txBody>
      </p:sp>
      <p:sp>
        <p:nvSpPr>
          <p:cNvPr id="7" name="TextBox 6"/>
          <p:cNvSpPr txBox="1"/>
          <p:nvPr/>
        </p:nvSpPr>
        <p:spPr>
          <a:xfrm>
            <a:off x="658368" y="2852928"/>
            <a:ext cx="3017520" cy="457200"/>
          </a:xfrm>
          <a:prstGeom prst="rect">
            <a:avLst/>
          </a:prstGeom>
          <a:noFill/>
        </p:spPr>
        <p:txBody>
          <a:bodyPr wrap="square">
            <a:spAutoFit/>
          </a:bodyPr>
          <a:lstStyle/>
          <a:p>
            <a:pPr>
              <a:spcAft>
                <a:spcPts val="1200"/>
              </a:spcAft>
              <a:defRPr sz="1800" b="0">
                <a:solidFill>
                  <a:srgbClr val="142D45"/>
                </a:solidFill>
                <a:latin typeface="Aptos"/>
              </a:defRPr>
            </a:pPr>
            <a:r>
              <a:t>Median absolute % error</a:t>
            </a:r>
          </a:p>
        </p:txBody>
      </p:sp>
      <p:sp>
        <p:nvSpPr>
          <p:cNvPr id="8" name="TextBox 7"/>
          <p:cNvSpPr txBox="1"/>
          <p:nvPr/>
        </p:nvSpPr>
        <p:spPr>
          <a:xfrm>
            <a:off x="658368" y="3520440"/>
            <a:ext cx="3291840" cy="1645920"/>
          </a:xfrm>
          <a:prstGeom prst="rect">
            <a:avLst/>
          </a:prstGeom>
          <a:noFill/>
        </p:spPr>
        <p:txBody>
          <a:bodyPr wrap="square">
            <a:spAutoFit/>
          </a:bodyPr>
          <a:lstStyle/>
          <a:p>
            <a:pPr>
              <a:spcAft>
                <a:spcPts val="1200"/>
              </a:spcAft>
              <a:defRPr sz="1900" b="0">
                <a:solidFill>
                  <a:srgbClr val="142D45"/>
                </a:solidFill>
                <a:latin typeface="Aptos"/>
              </a:defRPr>
            </a:pPr>
            <a:r>
              <a:t>11.60% MAPE</a:t>
            </a:r>
          </a:p>
          <a:p>
            <a:pPr>
              <a:spcAft>
                <a:spcPts val="1200"/>
              </a:spcAft>
              <a:defRPr sz="1900" b="0">
                <a:solidFill>
                  <a:srgbClr val="142D45"/>
                </a:solidFill>
                <a:latin typeface="Aptos"/>
              </a:defRPr>
            </a:pPr>
            <a:r>
              <a:t>17.89% baseline MdAPE</a:t>
            </a:r>
          </a:p>
          <a:p>
            <a:pPr>
              <a:spcAft>
                <a:spcPts val="1200"/>
              </a:spcAft>
              <a:defRPr sz="1900" b="0">
                <a:solidFill>
                  <a:srgbClr val="142D45"/>
                </a:solidFill>
                <a:latin typeface="Aptos"/>
              </a:defRPr>
            </a:pPr>
            <a:r>
              <a:t>83.8% within 20% of sale price</a:t>
            </a:r>
          </a:p>
        </p:txBody>
      </p:sp>
      <p:pic>
        <p:nvPicPr>
          <p:cNvPr id="9" name="Picture 8" descr="validation_comparison.png"/>
          <p:cNvPicPr>
            <a:picLocks noChangeAspect="1"/>
          </p:cNvPicPr>
          <p:nvPr/>
        </p:nvPicPr>
        <p:blipFill>
          <a:blip r:embed="rId2"/>
          <a:stretch>
            <a:fillRect/>
          </a:stretch>
        </p:blipFill>
        <p:spPr>
          <a:xfrm>
            <a:off x="3931920" y="2011680"/>
            <a:ext cx="7726679" cy="3000924"/>
          </a:xfrm>
          <a:prstGeom prst="rect">
            <a:avLst/>
          </a:prstGeom>
        </p:spPr>
      </p:pic>
      <p:sp>
        <p:nvSpPr>
          <p:cNvPr id="10" name="TextBox 9"/>
          <p:cNvSpPr txBox="1"/>
          <p:nvPr/>
        </p:nvSpPr>
        <p:spPr>
          <a:xfrm>
            <a:off x="658368" y="5760720"/>
            <a:ext cx="10972800" cy="548640"/>
          </a:xfrm>
          <a:prstGeom prst="rect">
            <a:avLst/>
          </a:prstGeom>
          <a:noFill/>
        </p:spPr>
        <p:txBody>
          <a:bodyPr wrap="square">
            <a:spAutoFit/>
          </a:bodyPr>
          <a:lstStyle/>
          <a:p>
            <a:pPr>
              <a:spcAft>
                <a:spcPts val="1200"/>
              </a:spcAft>
              <a:defRPr sz="1700" b="0">
                <a:solidFill>
                  <a:srgbClr val="536373"/>
                </a:solidFill>
                <a:latin typeface="Aptos"/>
              </a:defRPr>
            </a:pPr>
            <a:r>
              <a:t>Validation ≠ hidden-test accuracy. Synthetic data and future market shifts limit generalization.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